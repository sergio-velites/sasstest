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1005840"/>
            <a:ext cx="146304" cy="146304"/>
          </a:xfrm>
          <a:prstGeom prst="ellipse">
            <a:avLst/>
          </a:prstGeom>
          <a:solidFill>
            <a:srgbClr val="10B981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2011680"/>
            <a:ext cx="146304" cy="146304"/>
          </a:xfrm>
          <a:prstGeom prst="ellipse">
            <a:avLst/>
          </a:prstGeom>
          <a:solidFill>
            <a:srgbClr val="10B981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2377440"/>
            <a:ext cx="146304" cy="146304"/>
          </a:xfrm>
          <a:prstGeom prst="ellipse">
            <a:avLst/>
          </a:prstGeom>
          <a:solidFill>
            <a:srgbClr val="10B981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0" y="3566160"/>
            <a:ext cx="146304" cy="146304"/>
          </a:xfrm>
          <a:prstGeom prst="ellipse">
            <a:avLst/>
          </a:prstGeom>
          <a:solidFill>
            <a:srgbClr val="10B981">
              <a:alpha val="5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155680" y="2834640"/>
            <a:ext cx="146304" cy="146304"/>
          </a:xfrm>
          <a:prstGeom prst="ellipse">
            <a:avLst/>
          </a:prstGeom>
          <a:solidFill>
            <a:srgbClr val="10B981">
              <a:alpha val="5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582912" y="1078992"/>
            <a:ext cx="1005840" cy="1005840"/>
          </a:xfrm>
          <a:prstGeom prst="line">
            <a:avLst/>
          </a:prstGeom>
          <a:noFill/>
          <a:ln w="1270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51392" y="2432304"/>
            <a:ext cx="1280160" cy="1188720"/>
          </a:xfrm>
          <a:prstGeom prst="line">
            <a:avLst/>
          </a:prstGeom>
          <a:noFill/>
          <a:ln w="1270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88752" y="2084832"/>
            <a:ext cx="640080" cy="822960"/>
          </a:xfrm>
          <a:prstGeom prst="line">
            <a:avLst/>
          </a:prstGeom>
          <a:noFill/>
          <a:ln w="1270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371600"/>
            <a:ext cx="566928" cy="56692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29" y="1519001"/>
            <a:ext cx="272125" cy="27212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20574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FlowHub AI</a:t>
            </a:r>
            <a:endParaRPr lang="en-US" sz="6000" dirty="0"/>
          </a:p>
        </p:txBody>
      </p:sp>
      <p:sp>
        <p:nvSpPr>
          <p:cNvPr id="13" name="Text 10"/>
          <p:cNvSpPr/>
          <p:nvPr/>
        </p:nvSpPr>
        <p:spPr>
          <a:xfrm>
            <a:off x="548640" y="31546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empresariales con IA, listos para instalar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48640" y="39319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empresa no necesita otra herramienta de automatización.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procesos completos que funcionen desde el primer día.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4864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comercial · Julio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procesos internos se comen a los equipos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tiempo de operaciones se va en tareas repetitivas: facturas, altas, aprobaciones, avisos.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34840" y="173736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4709160" y="19659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709160" y="29260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distintas por proceso. La información salta de email a Excel, de Excel a ERP… a mano.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321040" y="173736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0" y="19659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8595360" y="29260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trazabilidad. Cuando algo falla, nadie sabe en qué paso se quedó ni quién lo aprobó.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645152"/>
            <a:ext cx="219456" cy="21945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43000" y="449884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RPA y "automatizaciones" clásicas se rompen y nadie las mantiene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434840" y="4526280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4645152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29200" y="449884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proyectos a medida tardan meses y se quedan obsoletos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321040" y="4526280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464515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915400" y="449884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genérica no conoce tus procesos ni deja rastro auditable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4864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entrevistas con equipos de operaciones y finanzas de pymes (2025–2026).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completos, instalables en un clic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FlowHub AI es una plataforma SaaS donde tu empresa instala workflows ya construidos —gestión de facturas, aprobación de gastos, onboarding— igual que instalarías una app. Cada workflow combina conectores, IA y aprobaciones humanas, y queda registrado paso a paso.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834640"/>
            <a:ext cx="603504" cy="603504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871" y="2991551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6118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Instalable, no programable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catálogo de procesos probados. Eliges, instalas y funciona: sin proyectos de meses ni consultoría. Y si quieres afinarlo, lo editas visualmente.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25146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</p:spPr>
      </p:sp>
      <p:sp>
        <p:nvSpPr>
          <p:cNvPr id="11" name="Shape 8"/>
          <p:cNvSpPr/>
          <p:nvPr/>
        </p:nvSpPr>
        <p:spPr>
          <a:xfrm>
            <a:off x="4709160" y="2834640"/>
            <a:ext cx="603504" cy="603504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071" y="2991551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6118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donde aporta valor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09160" y="420624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clasifica documentos, extrae datos y redacta respuestas dentro del proceso, con plantillas versionadas, límites de gasto y trazas de cada llamada.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321040" y="25146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</p:spPr>
      </p:sp>
      <p:sp>
        <p:nvSpPr>
          <p:cNvPr id="16" name="Shape 12"/>
          <p:cNvSpPr/>
          <p:nvPr/>
        </p:nvSpPr>
        <p:spPr>
          <a:xfrm>
            <a:off x="8595360" y="2834640"/>
            <a:ext cx="603504" cy="603504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2271" y="2991551"/>
            <a:ext cx="289682" cy="28968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95360" y="36118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personas deciden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595360" y="420624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pasos críticos se detienen y piden aprobación a quien corresponde. Nada importante ocurre sin control humano, y todo queda auditado.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y seguro por diseño: cada organización solo ve sus datos.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cero a proceso funcionando en minutos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" cy="51206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777" y="1824777"/>
            <a:ext cx="245791" cy="2457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733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Instala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34440" y="19933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un workflow del catálogo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512064" cy="51206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77" y="2757465"/>
            <a:ext cx="245791" cy="2457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606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Conecta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34440" y="2926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 tus herramientas (Slack, Gmail, ERP…)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557016"/>
            <a:ext cx="512064" cy="512064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77" y="3690153"/>
            <a:ext cx="245791" cy="2457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538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Ejecuta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34440" y="38587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orquesta cada paso, con IA incluida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489704"/>
            <a:ext cx="512064" cy="51206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77" y="4622841"/>
            <a:ext cx="245791" cy="2457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4714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Aprueba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234440" y="479145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pasos sensibles esperan tu visto bueno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5422392"/>
            <a:ext cx="512064" cy="512064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777" y="5555529"/>
            <a:ext cx="245791" cy="24579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54041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Mide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234440" y="572414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Historial, logs y métricas de cada ejecución</a:t>
            </a:r>
            <a:endParaRPr lang="en-US" sz="1150" dirty="0"/>
          </a:p>
        </p:txBody>
      </p:sp>
      <p:pic>
        <p:nvPicPr>
          <p:cNvPr id="24" name="Image 5" descr="shots/03-cata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1691640"/>
            <a:ext cx="6903720" cy="4314825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F172A">
                <a:alpha val="28000"/>
              </a:srgbClr>
            </a:outerShdw>
          </a:effectLst>
        </p:spPr>
      </p:pic>
      <p:sp>
        <p:nvSpPr>
          <p:cNvPr id="25" name="Text 17"/>
          <p:cNvSpPr/>
          <p:nvPr/>
        </p:nvSpPr>
        <p:spPr>
          <a:xfrm>
            <a:off x="4709160" y="6116193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catálogo: procesos listos para instalar en tu organización.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Facturas: del email al ERP, sin tocar nada</a:t>
            </a:r>
            <a:endParaRPr lang="en-US" sz="3200" dirty="0"/>
          </a:p>
        </p:txBody>
      </p:sp>
      <p:pic>
        <p:nvPicPr>
          <p:cNvPr id="4" name="Image 0" descr="shots/04-detalle-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766560" cy="42291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F172A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48640" y="593902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completo, visible como un grafo: cada nodo es un paso real.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772400" y="1783080"/>
            <a:ext cx="475488" cy="475488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027" y="1906707"/>
            <a:ext cx="228234" cy="2282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2480" y="17373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un email con la factura en PDF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7772400" y="2807208"/>
            <a:ext cx="475488" cy="47548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027" y="2930835"/>
            <a:ext cx="228234" cy="22823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12480" y="2761488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comprueba que es una factura y extrae proveedor, importe y fecha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7772400" y="3831336"/>
            <a:ext cx="475488" cy="47548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6027" y="3954963"/>
            <a:ext cx="228234" cy="22823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412480" y="3785616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supera el umbral, se pide aprobación a finanzas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7772400" y="4855464"/>
            <a:ext cx="475488" cy="47548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6027" y="4979091"/>
            <a:ext cx="228234" cy="22823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412480" y="4809744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en contabilidad y se avisa por Slack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7772400" y="594360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 de trabajo manual → segundos automáticos, con registro completo.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ejecución, paso a paso y en tiempo real</a:t>
            </a:r>
            <a:endParaRPr lang="en-US" sz="3200" dirty="0"/>
          </a:p>
        </p:txBody>
      </p:sp>
      <p:pic>
        <p:nvPicPr>
          <p:cNvPr id="4" name="Image 0" descr="shots/06-ejecu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600200"/>
            <a:ext cx="6903720" cy="4314825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F172A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709160" y="6024753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 una ejecución real: estado por nodo, reintentos, ramas y logs.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764792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6093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total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170432" y="1929384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ejecutó, cuándo, con qué datos y qué devolvió cada paso.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2816352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935224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70432" y="27797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Reintentos automáticos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170432" y="309981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fallos transitorios se reintentan con espera creciente, solos.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48640" y="3986784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105656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70432" y="39502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y versiones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1170432" y="427024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del proceso crea una versión nueva: nada se pierde.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48640" y="5157216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5276088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70432" y="5120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1170432" y="54406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críticas registradas: quién instaló, quién aprobó, qué cambió.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 cualquier proceso, sin escribir código</a:t>
            </a:r>
            <a:endParaRPr lang="en-US" sz="3200" dirty="0"/>
          </a:p>
        </p:txBody>
      </p:sp>
      <p:pic>
        <p:nvPicPr>
          <p:cNvPr id="4" name="Image 0" descr="shots/05-ed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903720" cy="4314825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F172A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48640" y="6024753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visual: añade nodos, conéctalos y guarda una nueva versión.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772400" y="173736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272" y="18562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94192" y="170078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Arrastra y conecta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394192" y="2020824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pasos de IA, condiciones, esperas o aprobaciones y únelos con ramas (aprobado / rechazado, sí / no).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7772400" y="321868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2" y="3337560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94192" y="31821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en vivo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8394192" y="3502152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editor avisa al instante de cualquier error y señala el nodo afectado. No puedes guardar un proceso roto.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7772400" y="4700016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272" y="4818888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394192" y="46634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Versionado seguro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8394192" y="498348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guardado publica una versión nueva sin tocar las ejecuciones en curso. Vuelve atrás cuando quieras.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humano donde importa</a:t>
            </a:r>
            <a:endParaRPr lang="en-US" sz="3200" dirty="0"/>
          </a:p>
        </p:txBody>
      </p:sp>
      <p:pic>
        <p:nvPicPr>
          <p:cNvPr id="4" name="Image 0" descr="shots/07-aprobacio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600200"/>
            <a:ext cx="6903720" cy="4314825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F172A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709160" y="6024753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Bandeja de aprobaciones: contexto completo y decisión en un clic.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gasto por encima del umbral, un pago, un alta con permisos especiales: hay pasos que no deben ser automáticos.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788920"/>
            <a:ext cx="420624" cy="420624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02" y="2898282"/>
            <a:ext cx="201900" cy="201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15568" y="2770632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se pausa y pide aprobación al rol adecuado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3657600"/>
            <a:ext cx="420624" cy="420624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02" y="3766962"/>
            <a:ext cx="201900" cy="2019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15568" y="3639312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aprobador ve todos los datos del caso antes de decidir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48640" y="4526280"/>
            <a:ext cx="420624" cy="420624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02" y="4635642"/>
            <a:ext cx="201900" cy="2019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15568" y="4507992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y rechazar siguen caminos distintos del proceso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48640" y="5394960"/>
            <a:ext cx="420624" cy="420624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002" y="5504322"/>
            <a:ext cx="201900" cy="2019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15568" y="5376672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nadie responde a tiempo, la petición expira de forma controlada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conecta a las herramientas que ya usas</a:t>
            </a:r>
            <a:endParaRPr lang="en-US" sz="3200" dirty="0"/>
          </a:p>
        </p:txBody>
      </p:sp>
      <p:pic>
        <p:nvPicPr>
          <p:cNvPr id="4" name="Image 0" descr="shots/09-conect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903720" cy="4314825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F172A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48640" y="6024753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guiada: OAuth para Slack y Google, credenciales para email y Holded.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772400" y="1691640"/>
            <a:ext cx="3886200" cy="713232"/>
          </a:xfrm>
          <a:prstGeom prst="roundRect">
            <a:avLst>
              <a:gd name="adj" fmla="val 12821"/>
            </a:avLst>
          </a:prstGeom>
          <a:solidFill>
            <a:srgbClr val="F1F5F9"/>
          </a:solidFill>
          <a:ln/>
        </p:spPr>
      </p:sp>
      <p:sp>
        <p:nvSpPr>
          <p:cNvPr id="7" name="Text 4"/>
          <p:cNvSpPr/>
          <p:nvPr/>
        </p:nvSpPr>
        <p:spPr>
          <a:xfrm>
            <a:off x="8001000" y="1764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01000" y="2039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y avisos a canales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0" y="2532888"/>
            <a:ext cx="3886200" cy="713232"/>
          </a:xfrm>
          <a:prstGeom prst="roundRect">
            <a:avLst>
              <a:gd name="adj" fmla="val 12821"/>
            </a:avLst>
          </a:prstGeom>
          <a:solidFill>
            <a:srgbClr val="F1F5F9"/>
          </a:solidFill>
          <a:ln/>
        </p:spPr>
      </p:sp>
      <p:sp>
        <p:nvSpPr>
          <p:cNvPr id="10" name="Text 7"/>
          <p:cNvSpPr/>
          <p:nvPr/>
        </p:nvSpPr>
        <p:spPr>
          <a:xfrm>
            <a:off x="800100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(Gmail y Drive)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0100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emails con adjuntos, sube ficheros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0" y="3374136"/>
            <a:ext cx="3886200" cy="713232"/>
          </a:xfrm>
          <a:prstGeom prst="roundRect">
            <a:avLst>
              <a:gd name="adj" fmla="val 12821"/>
            </a:avLst>
          </a:prstGeom>
          <a:solidFill>
            <a:srgbClr val="F1F5F9"/>
          </a:solidFill>
          <a:ln/>
        </p:spPr>
      </p:sp>
      <p:sp>
        <p:nvSpPr>
          <p:cNvPr id="13" name="Text 10"/>
          <p:cNvSpPr/>
          <p:nvPr/>
        </p:nvSpPr>
        <p:spPr>
          <a:xfrm>
            <a:off x="8001000" y="3447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SMTP / IMAP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01000" y="37216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proveedor de correo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72400" y="4215384"/>
            <a:ext cx="3886200" cy="713232"/>
          </a:xfrm>
          <a:prstGeom prst="roundRect">
            <a:avLst>
              <a:gd name="adj" fmla="val 12821"/>
            </a:avLst>
          </a:prstGeom>
          <a:solidFill>
            <a:srgbClr val="F1F5F9"/>
          </a:solidFill>
          <a:ln/>
        </p:spPr>
      </p:sp>
      <p:sp>
        <p:nvSpPr>
          <p:cNvPr id="16" name="Text 13"/>
          <p:cNvSpPr/>
          <p:nvPr/>
        </p:nvSpPr>
        <p:spPr>
          <a:xfrm>
            <a:off x="8001000" y="4288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Holded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001000" y="45628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documentos en tu contabilidad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0" y="516636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cifradas (AES-256) y renovación automática de tokens.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Próximamente: HubSpot, Notion, Shopify…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 nivel empresarial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" cy="512064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777" y="1916217"/>
            <a:ext cx="245791" cy="2457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4231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por organización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770632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multi-tenant: cada dato pertenece a una organización y las consultas lo garantizan. Un tenant jamás ve a otro.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434840" y="1783080"/>
            <a:ext cx="512064" cy="512064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977" y="1916217"/>
            <a:ext cx="245791" cy="2457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34840" y="24231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 cifrados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434840" y="2770632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de conectores cifradas con AES-256-GCM. Nunca aparecen en logs ni en configuraciones.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321040" y="1783080"/>
            <a:ext cx="512064" cy="512064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177" y="1916217"/>
            <a:ext cx="245791" cy="2457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21040" y="24231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completa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8321040" y="2770632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Instalaciones, aprobaciones, conexiones y cambios de plan quedan en un registro de auditoría inmutable.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977640"/>
            <a:ext cx="512064" cy="512064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77" y="4110777"/>
            <a:ext cx="245791" cy="2457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" y="46177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permisos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548640" y="4965192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admin, member y viewer: cada acción exige el rol adecuado, también en la API.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434840" y="3977640"/>
            <a:ext cx="512064" cy="512064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7977" y="4110777"/>
            <a:ext cx="245791" cy="24579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434840" y="46177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con límites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4434840" y="4965192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mensual de IA por organización, plantillas versionadas y traza de cada llamada (modelo, tokens, coste).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8321040" y="3977640"/>
            <a:ext cx="512064" cy="512064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4177" y="4110777"/>
            <a:ext cx="245791" cy="24579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321040" y="46177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para la nube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8321040" y="4965192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Google Cloud (Cloud Run + Cloud SQL) con infraestructura como código y despliegue sin claves estáticas.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plan para cada etapa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3474720"/>
          </a:xfrm>
          <a:prstGeom prst="roundRect">
            <a:avLst>
              <a:gd name="adj" fmla="val 4746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57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para siempre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usuario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workflows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ejecuciones/mes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74720" y="1783080"/>
            <a:ext cx="2697480" cy="3474720"/>
          </a:xfrm>
          <a:prstGeom prst="roundRect">
            <a:avLst>
              <a:gd name="adj" fmla="val 4746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3703320" y="2057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03320" y="2468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29 €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por mes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703320" y="32461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usuarios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workflows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ejecuciones/mes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1554480"/>
            <a:ext cx="2697480" cy="3931920"/>
          </a:xfrm>
          <a:prstGeom prst="roundRect">
            <a:avLst>
              <a:gd name="adj" fmla="val 474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27000" dist="38100" dir="5400000">
              <a:srgbClr val="0F172A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17556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POPULAR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29400" y="2057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29400" y="2468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99 €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por mes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629400" y="32461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usuarios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workflows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 ejecuciones/mes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326880" y="1783080"/>
            <a:ext cx="2697480" cy="3474720"/>
          </a:xfrm>
          <a:prstGeom prst="roundRect">
            <a:avLst>
              <a:gd name="adj" fmla="val 4746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9555480" y="2057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55480" y="2468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299 €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por mes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9555480" y="32461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usuarios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workflows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100.000 ejecuciones/mes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a medida, SSO y soporte dedicado — precio personalizado.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Además: comisión de marketplace y facturación por uso (ejecuciones, llamadas de IA) como líneas de ingreso adicionales.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ESTAMOS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funcionando hoy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HOY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Catálogo, instalación y ejecución de workflows end-to-end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con reintentos, esperas, ramas y aprobaciones humanas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integrada con plantillas, presupuesto y trazabilidad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visual con versionado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Conectores: Slack, Google, email, Holded (credenciales cifradas)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y límites con facturación Stripe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lista para Google Cloud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1554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2020824"/>
            <a:ext cx="164592" cy="16459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8" name="Shape 6"/>
          <p:cNvSpPr/>
          <p:nvPr/>
        </p:nvSpPr>
        <p:spPr>
          <a:xfrm>
            <a:off x="6481267" y="2203704"/>
            <a:ext cx="0" cy="786384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1911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20840" y="220370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a producción en Google Cloud y conectores OAuth activados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2980944"/>
            <a:ext cx="164592" cy="16459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Shape 10"/>
          <p:cNvSpPr/>
          <p:nvPr/>
        </p:nvSpPr>
        <p:spPr>
          <a:xfrm>
            <a:off x="6481267" y="3163824"/>
            <a:ext cx="0" cy="786384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28712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20840" y="316382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público: terceros publican y monetizan workflows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941064"/>
            <a:ext cx="164592" cy="16459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6" name="Shape 14"/>
          <p:cNvSpPr/>
          <p:nvPr/>
        </p:nvSpPr>
        <p:spPr>
          <a:xfrm>
            <a:off x="6481267" y="4123944"/>
            <a:ext cx="0" cy="786384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38313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2027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20840" y="412394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conectores (HubSpot, Notion, Shopify), triggers programados y webhooks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4901184"/>
            <a:ext cx="164592" cy="16459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47914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2027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20840" y="508406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por uso, SSO/SAML y capacidades Enterprise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234440"/>
            <a:ext cx="566928" cy="56692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29" y="138184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965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tu primer proceso hoy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48640" y="30175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gratis: regístrate, crea tu organización e instala la gestión de facturas de ejemplo. En cinco minutos verás tu primera ejecución completada.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4160520"/>
            <a:ext cx="292608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3159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Regístrate gratis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840480" y="4160520"/>
            <a:ext cx="292608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4023360" y="43159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Instala un workflow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132320" y="4160520"/>
            <a:ext cx="292608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0" y="43159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Míralo trabajar por ti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FlowHub AI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Workflows empresariales con IA  ·  apps@velitessport.com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2026-07-19T06:26:31Z</dcterms:created>
  <dcterms:modified xsi:type="dcterms:W3CDTF">2026-07-19T06:26:31Z</dcterms:modified>
</cp:coreProperties>
</file>